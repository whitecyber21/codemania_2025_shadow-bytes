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Poppins Semi-Bold" panose="020B0604020202020204" charset="0"/>
      <p:regular r:id="rId13"/>
    </p:embeddedFont>
    <p:embeddedFont>
      <p:font typeface="Times New Roman Bold" panose="02020803070505020304" pitchFamily="18"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64F9E9-E213-4B7E-AE17-A74CE2D0DC65}" v="7" dt="2025-04-30T10:11:18.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72957A-140D-41E9-99D9-179EC00CDA13}"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F8FDEE-D89C-4D8F-948E-79627D0219ED}" type="slidenum">
              <a:rPr lang="en-IN" smtClean="0"/>
              <a:t>‹#›</a:t>
            </a:fld>
            <a:endParaRPr lang="en-IN"/>
          </a:p>
        </p:txBody>
      </p:sp>
    </p:spTree>
    <p:extLst>
      <p:ext uri="{BB962C8B-B14F-4D97-AF65-F5344CB8AC3E}">
        <p14:creationId xmlns:p14="http://schemas.microsoft.com/office/powerpoint/2010/main" val="1195235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F8FDEE-D89C-4D8F-948E-79627D0219ED}" type="slidenum">
              <a:rPr lang="en-IN" smtClean="0"/>
              <a:t>3</a:t>
            </a:fld>
            <a:endParaRPr lang="en-IN"/>
          </a:p>
        </p:txBody>
      </p:sp>
    </p:spTree>
    <p:extLst>
      <p:ext uri="{BB962C8B-B14F-4D97-AF65-F5344CB8AC3E}">
        <p14:creationId xmlns:p14="http://schemas.microsoft.com/office/powerpoint/2010/main" val="302482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arxiv.org/abs/2411.06860" TargetMode="External"/><Relationship Id="rId3" Type="http://schemas.openxmlformats.org/officeDocument/2006/relationships/image" Target="../media/image3.png"/><Relationship Id="rId7" Type="http://schemas.openxmlformats.org/officeDocument/2006/relationships/hyperlink" Target="https://arxiv.org/abs/2409.19825"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3" y="3319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r>
              <a:rPr lang="en-US" dirty="0"/>
              <a:t>Sti</a:t>
            </a:r>
            <a:endParaRPr lang="en-IN" dirty="0"/>
          </a:p>
        </p:txBody>
      </p:sp>
      <p:sp>
        <p:nvSpPr>
          <p:cNvPr id="3" name="Freeform 3"/>
          <p:cNvSpPr/>
          <p:nvPr/>
        </p:nvSpPr>
        <p:spPr>
          <a:xfrm>
            <a:off x="6214198" y="189277"/>
            <a:ext cx="5292017" cy="1678847"/>
          </a:xfrm>
          <a:custGeom>
            <a:avLst/>
            <a:gdLst/>
            <a:ahLst/>
            <a:cxnLst/>
            <a:rect l="l" t="t" r="r" b="b"/>
            <a:pathLst>
              <a:path w="5292017" h="1678847">
                <a:moveTo>
                  <a:pt x="0" y="0"/>
                </a:moveTo>
                <a:lnTo>
                  <a:pt x="5292017" y="0"/>
                </a:lnTo>
                <a:lnTo>
                  <a:pt x="5292017" y="1678846"/>
                </a:lnTo>
                <a:lnTo>
                  <a:pt x="0" y="1678846"/>
                </a:lnTo>
                <a:lnTo>
                  <a:pt x="0" y="0"/>
                </a:lnTo>
                <a:close/>
              </a:path>
            </a:pathLst>
          </a:custGeom>
          <a:blipFill>
            <a:blip r:embed="rId3"/>
            <a:stretch>
              <a:fillRect/>
            </a:stretch>
          </a:blipFill>
        </p:spPr>
      </p:sp>
      <p:sp>
        <p:nvSpPr>
          <p:cNvPr id="4" name="Freeform 4"/>
          <p:cNvSpPr/>
          <p:nvPr/>
        </p:nvSpPr>
        <p:spPr>
          <a:xfrm>
            <a:off x="2274368" y="302299"/>
            <a:ext cx="3042518" cy="1452802"/>
          </a:xfrm>
          <a:custGeom>
            <a:avLst/>
            <a:gdLst/>
            <a:ahLst/>
            <a:cxnLst/>
            <a:rect l="l" t="t" r="r" b="b"/>
            <a:pathLst>
              <a:path w="3042518" h="1452802">
                <a:moveTo>
                  <a:pt x="0" y="0"/>
                </a:moveTo>
                <a:lnTo>
                  <a:pt x="3042518" y="0"/>
                </a:lnTo>
                <a:lnTo>
                  <a:pt x="3042518" y="1452802"/>
                </a:lnTo>
                <a:lnTo>
                  <a:pt x="0" y="1452802"/>
                </a:lnTo>
                <a:lnTo>
                  <a:pt x="0" y="0"/>
                </a:lnTo>
                <a:close/>
              </a:path>
            </a:pathLst>
          </a:custGeom>
          <a:blipFill>
            <a:blip r:embed="rId4"/>
            <a:stretch>
              <a:fillRect/>
            </a:stretch>
          </a:blipFill>
        </p:spPr>
      </p:sp>
      <p:sp>
        <p:nvSpPr>
          <p:cNvPr id="5" name="Freeform 5"/>
          <p:cNvSpPr/>
          <p:nvPr/>
        </p:nvSpPr>
        <p:spPr>
          <a:xfrm>
            <a:off x="13119591" y="302299"/>
            <a:ext cx="1868213" cy="1868213"/>
          </a:xfrm>
          <a:custGeom>
            <a:avLst/>
            <a:gdLst/>
            <a:ahLst/>
            <a:cxnLst/>
            <a:rect l="l" t="t" r="r" b="b"/>
            <a:pathLst>
              <a:path w="1868213" h="1868213">
                <a:moveTo>
                  <a:pt x="0" y="0"/>
                </a:moveTo>
                <a:lnTo>
                  <a:pt x="1868213" y="0"/>
                </a:lnTo>
                <a:lnTo>
                  <a:pt x="1868213" y="1868213"/>
                </a:lnTo>
                <a:lnTo>
                  <a:pt x="0" y="1868213"/>
                </a:lnTo>
                <a:lnTo>
                  <a:pt x="0" y="0"/>
                </a:lnTo>
                <a:close/>
              </a:path>
            </a:pathLst>
          </a:custGeom>
          <a:blipFill>
            <a:blip r:embed="rId5"/>
            <a:stretch>
              <a:fillRect/>
            </a:stretch>
          </a:blipFill>
        </p:spPr>
      </p:sp>
      <p:sp>
        <p:nvSpPr>
          <p:cNvPr id="6" name="TextBox 6"/>
          <p:cNvSpPr txBox="1"/>
          <p:nvPr/>
        </p:nvSpPr>
        <p:spPr>
          <a:xfrm>
            <a:off x="1447800" y="2599983"/>
            <a:ext cx="16306800" cy="8936934"/>
          </a:xfrm>
          <a:prstGeom prst="rect">
            <a:avLst/>
          </a:prstGeom>
        </p:spPr>
        <p:txBody>
          <a:bodyPr wrap="square" lIns="0" tIns="0" rIns="0" bIns="0" rtlCol="0" anchor="t">
            <a:spAutoFit/>
          </a:bodyPr>
          <a:lstStyle/>
          <a:p>
            <a:pPr algn="just">
              <a:lnSpc>
                <a:spcPts val="5426"/>
              </a:lnSpc>
            </a:pPr>
            <a:endParaRPr dirty="0"/>
          </a:p>
          <a:p>
            <a:pPr algn="just">
              <a:lnSpc>
                <a:spcPts val="5426"/>
              </a:lnSpc>
            </a:pPr>
            <a:r>
              <a:rPr lang="en-US" sz="2997" b="1" dirty="0">
                <a:solidFill>
                  <a:srgbClr val="000000"/>
                </a:solidFill>
                <a:latin typeface="Poppins Semi-Bold"/>
                <a:ea typeface="Poppins Semi-Bold"/>
                <a:cs typeface="Poppins Semi-Bold"/>
                <a:sym typeface="Poppins Semi-Bold"/>
              </a:rPr>
              <a:t>•Problem Statement Title –Phishing Detection and Awareness Tool</a:t>
            </a:r>
          </a:p>
          <a:p>
            <a:pPr algn="just">
              <a:lnSpc>
                <a:spcPts val="5426"/>
              </a:lnSpc>
            </a:pPr>
            <a:r>
              <a:rPr lang="en-US" sz="2997" b="1" dirty="0">
                <a:solidFill>
                  <a:srgbClr val="000000"/>
                </a:solidFill>
                <a:latin typeface="Poppins Semi-Bold"/>
                <a:ea typeface="Poppins Semi-Bold"/>
                <a:cs typeface="Poppins Semi-Bold"/>
                <a:sym typeface="Poppins Semi-Bold"/>
              </a:rPr>
              <a:t>•Theme –Cyber security</a:t>
            </a:r>
          </a:p>
          <a:p>
            <a:pPr algn="just">
              <a:lnSpc>
                <a:spcPts val="5426"/>
              </a:lnSpc>
            </a:pPr>
            <a:r>
              <a:rPr lang="en-US" sz="2997" b="1" dirty="0">
                <a:solidFill>
                  <a:srgbClr val="000000"/>
                </a:solidFill>
                <a:latin typeface="Poppins Semi-Bold"/>
                <a:ea typeface="Poppins Semi-Bold"/>
                <a:cs typeface="Poppins Semi-Bold"/>
                <a:sym typeface="Poppins Semi-Bold"/>
              </a:rPr>
              <a:t>•Team ID - TOKSHA21</a:t>
            </a:r>
          </a:p>
          <a:p>
            <a:pPr algn="just">
              <a:lnSpc>
                <a:spcPts val="5426"/>
              </a:lnSpc>
            </a:pPr>
            <a:r>
              <a:rPr lang="en-US" sz="2997" b="1" dirty="0">
                <a:solidFill>
                  <a:srgbClr val="000000"/>
                </a:solidFill>
                <a:latin typeface="Poppins Semi-Bold"/>
                <a:ea typeface="Poppins Semi-Bold"/>
                <a:cs typeface="Poppins Semi-Bold"/>
                <a:sym typeface="Poppins Semi-Bold"/>
              </a:rPr>
              <a:t>•Team Name (Registered on Website) - SHADOW BYTES</a:t>
            </a:r>
          </a:p>
          <a:p>
            <a:pPr algn="just">
              <a:lnSpc>
                <a:spcPts val="5426"/>
              </a:lnSpc>
            </a:pPr>
            <a:r>
              <a:rPr lang="en-US" sz="2997" b="1" dirty="0">
                <a:solidFill>
                  <a:srgbClr val="000000"/>
                </a:solidFill>
                <a:latin typeface="Poppins Semi-Bold"/>
                <a:ea typeface="Poppins Semi-Bold"/>
                <a:cs typeface="Poppins Semi-Bold"/>
                <a:sym typeface="Poppins Semi-Bold"/>
              </a:rPr>
              <a:t>•Participant Names – </a:t>
            </a:r>
            <a:r>
              <a:rPr lang="en-US" sz="2997" b="1" dirty="0" err="1">
                <a:solidFill>
                  <a:srgbClr val="000000"/>
                </a:solidFill>
                <a:latin typeface="Poppins Semi-Bold"/>
                <a:ea typeface="Poppins Semi-Bold"/>
                <a:cs typeface="Poppins Semi-Bold"/>
                <a:sym typeface="Poppins Semi-Bold"/>
              </a:rPr>
              <a:t>T.M.Dinesh</a:t>
            </a:r>
            <a:r>
              <a:rPr lang="en-US" sz="2997" b="1" dirty="0">
                <a:solidFill>
                  <a:srgbClr val="000000"/>
                </a:solidFill>
                <a:latin typeface="Poppins Semi-Bold"/>
                <a:ea typeface="Poppins Semi-Bold"/>
                <a:cs typeface="Poppins Semi-Bold"/>
                <a:sym typeface="Poppins Semi-Bold"/>
              </a:rPr>
              <a:t>(24D45A6206)</a:t>
            </a:r>
          </a:p>
          <a:p>
            <a:pPr algn="just">
              <a:lnSpc>
                <a:spcPts val="5426"/>
              </a:lnSpc>
            </a:pPr>
            <a:r>
              <a:rPr lang="en-US" sz="2997" b="1" dirty="0">
                <a:solidFill>
                  <a:srgbClr val="000000"/>
                </a:solidFill>
                <a:latin typeface="Poppins Semi-Bold"/>
                <a:ea typeface="Poppins Semi-Bold"/>
                <a:cs typeface="Poppins Semi-Bold"/>
                <a:sym typeface="Poppins Semi-Bold"/>
              </a:rPr>
              <a:t>                                               </a:t>
            </a:r>
            <a:r>
              <a:rPr lang="en-US" sz="2997" b="1" dirty="0" err="1">
                <a:solidFill>
                  <a:srgbClr val="000000"/>
                </a:solidFill>
                <a:latin typeface="Poppins Semi-Bold"/>
                <a:ea typeface="Poppins Semi-Bold"/>
                <a:cs typeface="Poppins Semi-Bold"/>
                <a:sym typeface="Poppins Semi-Bold"/>
              </a:rPr>
              <a:t>P.Kumar</a:t>
            </a:r>
            <a:r>
              <a:rPr lang="en-US" sz="2997" b="1" dirty="0">
                <a:solidFill>
                  <a:srgbClr val="000000"/>
                </a:solidFill>
                <a:latin typeface="Poppins Semi-Bold"/>
                <a:ea typeface="Poppins Semi-Bold"/>
                <a:cs typeface="Poppins Semi-Bold"/>
                <a:sym typeface="Poppins Semi-Bold"/>
              </a:rPr>
              <a:t> Reddy (23D41A6246)</a:t>
            </a:r>
          </a:p>
          <a:p>
            <a:pPr algn="just">
              <a:lnSpc>
                <a:spcPts val="5426"/>
              </a:lnSpc>
            </a:pPr>
            <a:r>
              <a:rPr lang="en-US" sz="2997" b="1" dirty="0">
                <a:solidFill>
                  <a:srgbClr val="000000"/>
                </a:solidFill>
                <a:latin typeface="Poppins Semi-Bold"/>
                <a:ea typeface="Poppins Semi-Bold"/>
                <a:cs typeface="Poppins Semi-Bold"/>
                <a:sym typeface="Poppins Semi-Bold"/>
              </a:rPr>
              <a:t>                                               </a:t>
            </a:r>
            <a:r>
              <a:rPr lang="en-US" sz="2997" b="1" dirty="0" err="1">
                <a:solidFill>
                  <a:srgbClr val="000000"/>
                </a:solidFill>
                <a:latin typeface="Poppins Semi-Bold"/>
                <a:ea typeface="Poppins Semi-Bold"/>
                <a:cs typeface="Poppins Semi-Bold"/>
                <a:sym typeface="Poppins Semi-Bold"/>
              </a:rPr>
              <a:t>Ch.Harish</a:t>
            </a:r>
            <a:r>
              <a:rPr lang="en-US" sz="2997" b="1" dirty="0">
                <a:solidFill>
                  <a:srgbClr val="000000"/>
                </a:solidFill>
                <a:latin typeface="Poppins Semi-Bold"/>
                <a:ea typeface="Poppins Semi-Bold"/>
                <a:cs typeface="Poppins Semi-Bold"/>
                <a:sym typeface="Poppins Semi-Bold"/>
              </a:rPr>
              <a:t>(23D41A6211)</a:t>
            </a:r>
          </a:p>
          <a:p>
            <a:pPr algn="just">
              <a:lnSpc>
                <a:spcPts val="5426"/>
              </a:lnSpc>
            </a:pPr>
            <a:r>
              <a:rPr lang="en-US" sz="2997" b="1" dirty="0">
                <a:solidFill>
                  <a:srgbClr val="000000"/>
                </a:solidFill>
                <a:latin typeface="Poppins Semi-Bold"/>
                <a:ea typeface="Poppins Semi-Bold"/>
                <a:cs typeface="Poppins Semi-Bold"/>
                <a:sym typeface="Poppins Semi-Bold"/>
              </a:rPr>
              <a:t>                                               </a:t>
            </a:r>
            <a:r>
              <a:rPr lang="en-US" sz="2997" b="1" dirty="0" err="1">
                <a:solidFill>
                  <a:srgbClr val="000000"/>
                </a:solidFill>
                <a:latin typeface="Poppins Semi-Bold"/>
                <a:ea typeface="Poppins Semi-Bold"/>
                <a:cs typeface="Poppins Semi-Bold"/>
                <a:sym typeface="Poppins Semi-Bold"/>
              </a:rPr>
              <a:t>U.Sridhar</a:t>
            </a:r>
            <a:r>
              <a:rPr lang="en-US" sz="2997" b="1" dirty="0">
                <a:solidFill>
                  <a:srgbClr val="000000"/>
                </a:solidFill>
                <a:latin typeface="Poppins Semi-Bold"/>
                <a:ea typeface="Poppins Semi-Bold"/>
                <a:cs typeface="Poppins Semi-Bold"/>
                <a:sym typeface="Poppins Semi-Bold"/>
              </a:rPr>
              <a:t>(24D45A6203) </a:t>
            </a:r>
          </a:p>
          <a:p>
            <a:pPr algn="just">
              <a:lnSpc>
                <a:spcPts val="5426"/>
              </a:lnSpc>
            </a:pPr>
            <a:endParaRPr lang="en-US" sz="2997" b="1" dirty="0">
              <a:solidFill>
                <a:srgbClr val="000000"/>
              </a:solidFill>
              <a:latin typeface="Poppins Semi-Bold"/>
              <a:ea typeface="Poppins Semi-Bold"/>
              <a:cs typeface="Poppins Semi-Bold"/>
              <a:sym typeface="Poppins Semi-Bold"/>
            </a:endParaRPr>
          </a:p>
          <a:p>
            <a:pPr algn="just">
              <a:lnSpc>
                <a:spcPts val="5426"/>
              </a:lnSpc>
            </a:pPr>
            <a:endParaRPr lang="en-US" sz="2997" b="1" dirty="0">
              <a:solidFill>
                <a:srgbClr val="000000"/>
              </a:solidFill>
              <a:latin typeface="Poppins Semi-Bold"/>
              <a:ea typeface="Poppins Semi-Bold"/>
              <a:cs typeface="Poppins Semi-Bold"/>
              <a:sym typeface="Poppins Semi-Bold"/>
            </a:endParaRPr>
          </a:p>
          <a:p>
            <a:pPr algn="just">
              <a:lnSpc>
                <a:spcPts val="5426"/>
              </a:lnSpc>
            </a:pPr>
            <a:endParaRPr lang="en-US" sz="2997" b="1" dirty="0">
              <a:solidFill>
                <a:srgbClr val="000000"/>
              </a:solidFill>
              <a:latin typeface="Poppins Semi-Bold"/>
              <a:ea typeface="Poppins Semi-Bold"/>
              <a:cs typeface="Poppins Semi-Bold"/>
              <a:sym typeface="Poppins Semi-Bold"/>
            </a:endParaRPr>
          </a:p>
          <a:p>
            <a:pPr algn="just">
              <a:lnSpc>
                <a:spcPts val="5426"/>
              </a:lnSpc>
            </a:pPr>
            <a:endParaRPr lang="en-US" sz="2997" b="1" dirty="0">
              <a:solidFill>
                <a:srgbClr val="000000"/>
              </a:solidFill>
              <a:latin typeface="Poppins Semi-Bold"/>
              <a:ea typeface="Poppins Semi-Bold"/>
              <a:cs typeface="Poppins Semi-Bold"/>
              <a:sym typeface="Poppins Semi-Bold"/>
            </a:endParaRPr>
          </a:p>
        </p:txBody>
      </p:sp>
      <p:sp>
        <p:nvSpPr>
          <p:cNvPr id="7" name="Freeform 7"/>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6"/>
            <a:stretch>
              <a:fillRect b="-34214"/>
            </a:stretch>
          </a:blipFill>
        </p:spPr>
      </p:sp>
      <p:sp>
        <p:nvSpPr>
          <p:cNvPr id="8" name="TextBox 8"/>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01</a:t>
            </a:r>
          </a:p>
        </p:txBody>
      </p:sp>
      <p:sp>
        <p:nvSpPr>
          <p:cNvPr id="10" name="TextBox 10"/>
          <p:cNvSpPr txBox="1"/>
          <p:nvPr/>
        </p:nvSpPr>
        <p:spPr>
          <a:xfrm>
            <a:off x="3321979" y="9794298"/>
            <a:ext cx="1107645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1" name="TextBox 10">
            <a:extLst>
              <a:ext uri="{FF2B5EF4-FFF2-40B4-BE49-F238E27FC236}">
                <a16:creationId xmlns:a16="http://schemas.microsoft.com/office/drawing/2014/main" id="{872EA849-C452-6BC0-6AC7-705ADD1B085B}"/>
              </a:ext>
            </a:extLst>
          </p:cNvPr>
          <p:cNvSpPr txBox="1"/>
          <p:nvPr/>
        </p:nvSpPr>
        <p:spPr>
          <a:xfrm>
            <a:off x="7402597" y="2131949"/>
            <a:ext cx="4474794" cy="769441"/>
          </a:xfrm>
          <a:prstGeom prst="rect">
            <a:avLst/>
          </a:prstGeom>
          <a:noFill/>
        </p:spPr>
        <p:txBody>
          <a:bodyPr wrap="square" rtlCol="0">
            <a:spAutoFit/>
          </a:bodyPr>
          <a:lstStyle/>
          <a:p>
            <a:r>
              <a:rPr lang="en-IN" sz="4400" b="1" dirty="0">
                <a:effectLst/>
              </a:rPr>
              <a:t>TITLE PAGE</a:t>
            </a:r>
            <a:endParaRPr lang="en-IN"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0500"/>
            <a:ext cx="18395036" cy="10636594"/>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dirty="0"/>
          </a:p>
        </p:txBody>
      </p:sp>
      <p:sp>
        <p:nvSpPr>
          <p:cNvPr id="9" name="TextBox 9"/>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02</a:t>
            </a:r>
          </a:p>
        </p:txBody>
      </p:sp>
      <p:sp>
        <p:nvSpPr>
          <p:cNvPr id="10" name="TextBox 10"/>
          <p:cNvSpPr txBox="1"/>
          <p:nvPr/>
        </p:nvSpPr>
        <p:spPr>
          <a:xfrm>
            <a:off x="5644036" y="1018927"/>
            <a:ext cx="6988739" cy="1039155"/>
          </a:xfrm>
          <a:prstGeom prst="rect">
            <a:avLst/>
          </a:prstGeom>
        </p:spPr>
        <p:txBody>
          <a:bodyPr wrap="square" lIns="0" tIns="0" rIns="0" bIns="0" rtlCol="0" anchor="t">
            <a:spAutoFit/>
          </a:bodyPr>
          <a:lstStyle/>
          <a:p>
            <a:pPr algn="ctr">
              <a:lnSpc>
                <a:spcPts val="7614"/>
              </a:lnSpc>
              <a:spcBef>
                <a:spcPct val="0"/>
              </a:spcBef>
            </a:pPr>
            <a:r>
              <a:rPr lang="en-US" sz="5438" b="1" dirty="0">
                <a:solidFill>
                  <a:srgbClr val="000000"/>
                </a:solidFill>
                <a:latin typeface="Times New Roman Bold"/>
                <a:ea typeface="Times New Roman Bold"/>
                <a:cs typeface="Times New Roman Bold"/>
                <a:sym typeface="Times New Roman Bold"/>
              </a:rPr>
              <a:t>IDEA TITLE</a:t>
            </a:r>
          </a:p>
        </p:txBody>
      </p:sp>
      <p:sp>
        <p:nvSpPr>
          <p:cNvPr id="11" name="TextBox 11"/>
          <p:cNvSpPr txBox="1"/>
          <p:nvPr/>
        </p:nvSpPr>
        <p:spPr>
          <a:xfrm>
            <a:off x="3605773"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2" name="TextBox 12"/>
          <p:cNvSpPr txBox="1"/>
          <p:nvPr/>
        </p:nvSpPr>
        <p:spPr>
          <a:xfrm>
            <a:off x="793673" y="882423"/>
            <a:ext cx="1424228" cy="1010277"/>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sp>
        <p:nvSpPr>
          <p:cNvPr id="33" name="TextBox 32">
            <a:extLst>
              <a:ext uri="{FF2B5EF4-FFF2-40B4-BE49-F238E27FC236}">
                <a16:creationId xmlns:a16="http://schemas.microsoft.com/office/drawing/2014/main" id="{3F9E0164-1026-CAE3-E9BE-43327982AA40}"/>
              </a:ext>
            </a:extLst>
          </p:cNvPr>
          <p:cNvSpPr txBox="1"/>
          <p:nvPr/>
        </p:nvSpPr>
        <p:spPr>
          <a:xfrm>
            <a:off x="2433074" y="2454076"/>
            <a:ext cx="14711926" cy="6740307"/>
          </a:xfrm>
          <a:prstGeom prst="rect">
            <a:avLst/>
          </a:prstGeom>
          <a:noFill/>
        </p:spPr>
        <p:txBody>
          <a:bodyPr wrap="square" rtlCol="0">
            <a:spAutoFit/>
          </a:bodyPr>
          <a:lstStyle/>
          <a:p>
            <a:r>
              <a:rPr lang="en-US" sz="3600" b="1" dirty="0"/>
              <a:t>Phishing Detection Tool</a:t>
            </a:r>
            <a:r>
              <a:rPr lang="en-US" sz="3600" dirty="0"/>
              <a:t>: A browser extension that scans websites for signs of phishing, such as suspicious URLs and security issues like missing SSL certificates. It also checks email links for authenticity and alerts users when they visit malicious sites.</a:t>
            </a:r>
          </a:p>
          <a:p>
            <a:endParaRPr lang="en-US" sz="3600" dirty="0"/>
          </a:p>
          <a:p>
            <a:r>
              <a:rPr lang="en-US" sz="3600" b="1" dirty="0"/>
              <a:t>Phishing Awareness Tool: </a:t>
            </a:r>
            <a:r>
              <a:rPr lang="en-US" sz="3600" dirty="0"/>
              <a:t>Educates users on identifying phishing attempts through interactive training, such as simulated phishing emails, and provides real-time feedback when potential threats are detected.</a:t>
            </a:r>
          </a:p>
          <a:p>
            <a:endParaRPr lang="en-US" sz="3600" dirty="0"/>
          </a:p>
          <a:p>
            <a:r>
              <a:rPr lang="en-US" sz="3600" dirty="0"/>
              <a:t>This solution addresses the problem by not only blocking phishing attacks but also teaching users how to recognize threats themselves. Its innovation lies in its hybrid approach—combining detection with education.</a:t>
            </a:r>
            <a:endParaRPr lang="en-I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4"/>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5"/>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03</a:t>
            </a:r>
          </a:p>
        </p:txBody>
      </p:sp>
      <p:sp>
        <p:nvSpPr>
          <p:cNvPr id="7" name="TextBox 7"/>
          <p:cNvSpPr txBox="1"/>
          <p:nvPr/>
        </p:nvSpPr>
        <p:spPr>
          <a:xfrm>
            <a:off x="4721124" y="640956"/>
            <a:ext cx="9226960" cy="1071994"/>
          </a:xfrm>
          <a:prstGeom prst="rect">
            <a:avLst/>
          </a:prstGeom>
        </p:spPr>
        <p:txBody>
          <a:bodyPr lIns="0" tIns="0" rIns="0" bIns="0" rtlCol="0" anchor="t">
            <a:spAutoFit/>
          </a:bodyPr>
          <a:lstStyle/>
          <a:p>
            <a:pPr algn="ctr">
              <a:lnSpc>
                <a:spcPts val="7919"/>
              </a:lnSpc>
              <a:spcBef>
                <a:spcPct val="0"/>
              </a:spcBef>
            </a:pPr>
            <a:r>
              <a:rPr lang="en-US" sz="5656" b="1">
                <a:solidFill>
                  <a:srgbClr val="000000"/>
                </a:solidFill>
                <a:latin typeface="Times New Roman Bold"/>
                <a:ea typeface="Times New Roman Bold"/>
                <a:cs typeface="Times New Roman Bold"/>
                <a:sym typeface="Times New Roman Bold"/>
              </a:rPr>
              <a:t>TECHNICAL APPROACH</a:t>
            </a:r>
          </a:p>
        </p:txBody>
      </p:sp>
      <p:sp>
        <p:nvSpPr>
          <p:cNvPr id="8" name="TextBox 8"/>
          <p:cNvSpPr txBox="1"/>
          <p:nvPr/>
        </p:nvSpPr>
        <p:spPr>
          <a:xfrm>
            <a:off x="3164261" y="9794298"/>
            <a:ext cx="1078382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1010277"/>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sp>
        <p:nvSpPr>
          <p:cNvPr id="11" name="TextBox 10">
            <a:extLst>
              <a:ext uri="{FF2B5EF4-FFF2-40B4-BE49-F238E27FC236}">
                <a16:creationId xmlns:a16="http://schemas.microsoft.com/office/drawing/2014/main" id="{8D756D04-87F5-0890-C315-6A46EABF5ECA}"/>
              </a:ext>
            </a:extLst>
          </p:cNvPr>
          <p:cNvSpPr txBox="1"/>
          <p:nvPr/>
        </p:nvSpPr>
        <p:spPr>
          <a:xfrm>
            <a:off x="1143000" y="2100521"/>
            <a:ext cx="7010400" cy="6986528"/>
          </a:xfrm>
          <a:prstGeom prst="rect">
            <a:avLst/>
          </a:prstGeom>
          <a:noFill/>
        </p:spPr>
        <p:txBody>
          <a:bodyPr wrap="square" rtlCol="0">
            <a:spAutoFit/>
          </a:bodyPr>
          <a:lstStyle/>
          <a:p>
            <a:r>
              <a:rPr lang="en-IN" sz="2800" dirty="0"/>
              <a:t>Frontend: HTML, CSS, JavaScript (React.js or Vue.js)</a:t>
            </a:r>
          </a:p>
          <a:p>
            <a:endParaRPr lang="en-IN" sz="2800" dirty="0"/>
          </a:p>
          <a:p>
            <a:r>
              <a:rPr lang="en-IN" sz="2800" dirty="0"/>
              <a:t>Backend: Python (Flask/Django) with a machine learning library (e.g., scikit-learn, TensorFlow)</a:t>
            </a:r>
          </a:p>
          <a:p>
            <a:endParaRPr lang="en-IN" sz="2800" dirty="0"/>
          </a:p>
          <a:p>
            <a:r>
              <a:rPr lang="en-IN" sz="2800" dirty="0"/>
              <a:t>Phishing Detection Algorithm: A trained machine learning model (like Random Forest or SVM), or predefined rules.</a:t>
            </a:r>
          </a:p>
          <a:p>
            <a:endParaRPr lang="en-IN" sz="2800" dirty="0"/>
          </a:p>
          <a:p>
            <a:r>
              <a:rPr lang="en-IN" sz="2800" dirty="0"/>
              <a:t>Database: SQLite or PostgreSQL (for storing training data, URLs, and user results)</a:t>
            </a:r>
          </a:p>
          <a:p>
            <a:endParaRPr lang="en-IN" sz="2800" dirty="0"/>
          </a:p>
          <a:p>
            <a:r>
              <a:rPr lang="en-IN" sz="2800" dirty="0"/>
              <a:t>Hosting: You can deploy it on platforms like Render, Heroku, or AWS.</a:t>
            </a:r>
          </a:p>
        </p:txBody>
      </p:sp>
      <p:cxnSp>
        <p:nvCxnSpPr>
          <p:cNvPr id="18" name="Straight Connector 17">
            <a:extLst>
              <a:ext uri="{FF2B5EF4-FFF2-40B4-BE49-F238E27FC236}">
                <a16:creationId xmlns:a16="http://schemas.microsoft.com/office/drawing/2014/main" id="{0F3D0A44-2B87-6C5A-42C9-5F5AD64BC52B}"/>
              </a:ext>
            </a:extLst>
          </p:cNvPr>
          <p:cNvCxnSpPr>
            <a:cxnSpLocks/>
          </p:cNvCxnSpPr>
          <p:nvPr/>
        </p:nvCxnSpPr>
        <p:spPr>
          <a:xfrm>
            <a:off x="8500592" y="1943100"/>
            <a:ext cx="0" cy="6831980"/>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9F18AA54-05CE-C130-B171-E0A029A7A19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73544" y="1914112"/>
            <a:ext cx="6685655" cy="69865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04</a:t>
            </a:r>
          </a:p>
        </p:txBody>
      </p:sp>
      <p:sp>
        <p:nvSpPr>
          <p:cNvPr id="7" name="TextBox 7"/>
          <p:cNvSpPr txBox="1"/>
          <p:nvPr/>
        </p:nvSpPr>
        <p:spPr>
          <a:xfrm>
            <a:off x="3876856" y="455527"/>
            <a:ext cx="10590345"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FEASIBILITY AND VIABILITY</a:t>
            </a:r>
          </a:p>
        </p:txBody>
      </p:sp>
      <p:sp>
        <p:nvSpPr>
          <p:cNvPr id="8" name="TextBox 8"/>
          <p:cNvSpPr txBox="1"/>
          <p:nvPr/>
        </p:nvSpPr>
        <p:spPr>
          <a:xfrm>
            <a:off x="3348719" y="9794298"/>
            <a:ext cx="106037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1010277"/>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578499" y="2169285"/>
            <a:ext cx="17446141" cy="845103"/>
          </a:xfrm>
          <a:prstGeom prst="rect">
            <a:avLst/>
          </a:prstGeom>
        </p:spPr>
        <p:txBody>
          <a:bodyPr wrap="square" lIns="0" tIns="0" rIns="0" bIns="0" rtlCol="0" anchor="t">
            <a:spAutoFit/>
          </a:bodyPr>
          <a:lstStyle/>
          <a:p>
            <a:pPr algn="l">
              <a:lnSpc>
                <a:spcPts val="7411"/>
              </a:lnSpc>
            </a:pPr>
            <a:r>
              <a:rPr lang="en-US" sz="4437" dirty="0">
                <a:solidFill>
                  <a:srgbClr val="000000"/>
                </a:solidFill>
                <a:latin typeface="Times New Roman"/>
                <a:ea typeface="Times New Roman"/>
                <a:cs typeface="Times New Roman"/>
                <a:sym typeface="Times New Roman"/>
              </a:rPr>
              <a:t>•</a:t>
            </a:r>
          </a:p>
        </p:txBody>
      </p:sp>
      <p:sp>
        <p:nvSpPr>
          <p:cNvPr id="12" name="TextBox 11">
            <a:extLst>
              <a:ext uri="{FF2B5EF4-FFF2-40B4-BE49-F238E27FC236}">
                <a16:creationId xmlns:a16="http://schemas.microsoft.com/office/drawing/2014/main" id="{66478F14-BC1F-841A-A641-BAD8361A0D0B}"/>
              </a:ext>
            </a:extLst>
          </p:cNvPr>
          <p:cNvSpPr txBox="1"/>
          <p:nvPr/>
        </p:nvSpPr>
        <p:spPr>
          <a:xfrm rot="10800000" flipV="1">
            <a:off x="2217900" y="2247901"/>
            <a:ext cx="13693081" cy="1815882"/>
          </a:xfrm>
          <a:prstGeom prst="rect">
            <a:avLst/>
          </a:prstGeom>
          <a:noFill/>
        </p:spPr>
        <p:txBody>
          <a:bodyPr wrap="square" rtlCol="0">
            <a:spAutoFit/>
          </a:bodyPr>
          <a:lstStyle/>
          <a:p>
            <a:pPr>
              <a:buNone/>
            </a:pPr>
            <a:r>
              <a:rPr lang="en-IN" sz="2800" b="1" dirty="0"/>
              <a:t>Feasibility Analysis</a:t>
            </a:r>
          </a:p>
          <a:p>
            <a:pPr>
              <a:buNone/>
            </a:pPr>
            <a:r>
              <a:rPr lang="en-IN" sz="2800" b="1" dirty="0"/>
              <a:t>✔️ Technically Feasible</a:t>
            </a:r>
          </a:p>
          <a:p>
            <a:pPr>
              <a:buFont typeface="Arial" panose="020B0604020202020204" pitchFamily="34" charset="0"/>
              <a:buChar char="•"/>
            </a:pPr>
            <a:r>
              <a:rPr lang="en-IN" sz="2800" dirty="0"/>
              <a:t>Email APIs like </a:t>
            </a:r>
            <a:r>
              <a:rPr lang="en-IN" sz="2800" b="1" dirty="0"/>
              <a:t>Gmail API</a:t>
            </a:r>
            <a:r>
              <a:rPr lang="en-IN" sz="2800" dirty="0"/>
              <a:t> and </a:t>
            </a:r>
            <a:r>
              <a:rPr lang="en-IN" sz="2800" b="1" dirty="0"/>
              <a:t>Microsoft Graph API</a:t>
            </a:r>
            <a:r>
              <a:rPr lang="en-IN" sz="2800" dirty="0"/>
              <a:t> support secure access to user inboxes.</a:t>
            </a:r>
          </a:p>
          <a:p>
            <a:pPr>
              <a:buFont typeface="Arial" panose="020B0604020202020204" pitchFamily="34" charset="0"/>
              <a:buChar char="•"/>
            </a:pPr>
            <a:r>
              <a:rPr lang="en-IN" sz="2800" dirty="0"/>
              <a:t>Phishing detection via </a:t>
            </a:r>
            <a:r>
              <a:rPr lang="en-IN" sz="2800" b="1" dirty="0"/>
              <a:t>machine learning</a:t>
            </a:r>
            <a:r>
              <a:rPr lang="en-IN" sz="2800" dirty="0"/>
              <a:t>, </a:t>
            </a:r>
            <a:r>
              <a:rPr lang="en-IN" sz="2800" b="1" dirty="0"/>
              <a:t>blacklists</a:t>
            </a:r>
            <a:r>
              <a:rPr lang="en-IN" sz="2800" dirty="0"/>
              <a:t>, and </a:t>
            </a:r>
            <a:r>
              <a:rPr lang="en-IN" sz="2800" b="1" dirty="0"/>
              <a:t>NLP</a:t>
            </a:r>
            <a:r>
              <a:rPr lang="en-IN" sz="2800" dirty="0"/>
              <a:t> is well-established.</a:t>
            </a:r>
          </a:p>
        </p:txBody>
      </p:sp>
      <p:sp>
        <p:nvSpPr>
          <p:cNvPr id="17" name="TextBox 16">
            <a:extLst>
              <a:ext uri="{FF2B5EF4-FFF2-40B4-BE49-F238E27FC236}">
                <a16:creationId xmlns:a16="http://schemas.microsoft.com/office/drawing/2014/main" id="{0FAF5C73-7415-240D-6A87-DBC6744ECF9A}"/>
              </a:ext>
            </a:extLst>
          </p:cNvPr>
          <p:cNvSpPr txBox="1"/>
          <p:nvPr/>
        </p:nvSpPr>
        <p:spPr>
          <a:xfrm>
            <a:off x="2285999" y="4619921"/>
            <a:ext cx="13624981" cy="1815882"/>
          </a:xfrm>
          <a:prstGeom prst="rect">
            <a:avLst/>
          </a:prstGeom>
          <a:noFill/>
        </p:spPr>
        <p:txBody>
          <a:bodyPr wrap="square" rtlCol="0">
            <a:spAutoFit/>
          </a:bodyPr>
          <a:lstStyle/>
          <a:p>
            <a:r>
              <a:rPr lang="en-IN" sz="2800" b="1" dirty="0"/>
              <a:t>Potential Challenges &amp; Risks </a:t>
            </a:r>
          </a:p>
          <a:p>
            <a:r>
              <a:rPr lang="en-US" sz="2800" dirty="0"/>
              <a:t>False positives can cause email disruptions, while false negatives expose users to risk.</a:t>
            </a:r>
          </a:p>
          <a:p>
            <a:r>
              <a:rPr lang="en-US" sz="2800" dirty="0"/>
              <a:t>Gaining access to emails or browsing behavior raises serious privacy concerns.</a:t>
            </a:r>
          </a:p>
          <a:p>
            <a:r>
              <a:rPr lang="en-US" sz="2800" dirty="0"/>
              <a:t>Too many alerts or training reminders can annoy users, reducing effectiveness.</a:t>
            </a:r>
            <a:endParaRPr lang="en-IN" sz="2800" dirty="0"/>
          </a:p>
        </p:txBody>
      </p:sp>
      <p:sp>
        <p:nvSpPr>
          <p:cNvPr id="19" name="TextBox 18">
            <a:extLst>
              <a:ext uri="{FF2B5EF4-FFF2-40B4-BE49-F238E27FC236}">
                <a16:creationId xmlns:a16="http://schemas.microsoft.com/office/drawing/2014/main" id="{17EC84A8-EE30-2601-2714-D005C256379D}"/>
              </a:ext>
            </a:extLst>
          </p:cNvPr>
          <p:cNvSpPr txBox="1"/>
          <p:nvPr/>
        </p:nvSpPr>
        <p:spPr>
          <a:xfrm>
            <a:off x="2209800" y="7149677"/>
            <a:ext cx="6934200" cy="523220"/>
          </a:xfrm>
          <a:prstGeom prst="rect">
            <a:avLst/>
          </a:prstGeom>
          <a:noFill/>
        </p:spPr>
        <p:txBody>
          <a:bodyPr wrap="square" rtlCol="0">
            <a:spAutoFit/>
          </a:bodyPr>
          <a:lstStyle/>
          <a:p>
            <a:r>
              <a:rPr lang="en-US" sz="2800" dirty="0"/>
              <a:t>🛡️ </a:t>
            </a:r>
            <a:r>
              <a:rPr lang="en-US" sz="2800" b="1" dirty="0"/>
              <a:t>Strategies to Overcome Challenges</a:t>
            </a:r>
            <a:endParaRPr lang="en-IN" sz="2800" dirty="0"/>
          </a:p>
        </p:txBody>
      </p:sp>
      <p:graphicFrame>
        <p:nvGraphicFramePr>
          <p:cNvPr id="27" name="Table 26">
            <a:extLst>
              <a:ext uri="{FF2B5EF4-FFF2-40B4-BE49-F238E27FC236}">
                <a16:creationId xmlns:a16="http://schemas.microsoft.com/office/drawing/2014/main" id="{EFB2C8C1-77D2-BAF2-CF6E-5F3EDA7D2F4B}"/>
              </a:ext>
            </a:extLst>
          </p:cNvPr>
          <p:cNvGraphicFramePr>
            <a:graphicFrameLocks noGrp="1"/>
          </p:cNvGraphicFramePr>
          <p:nvPr>
            <p:extLst>
              <p:ext uri="{D42A27DB-BD31-4B8C-83A1-F6EECF244321}">
                <p14:modId xmlns:p14="http://schemas.microsoft.com/office/powerpoint/2010/main" val="564374900"/>
              </p:ext>
            </p:extLst>
          </p:nvPr>
        </p:nvGraphicFramePr>
        <p:xfrm>
          <a:off x="2285999" y="7685926"/>
          <a:ext cx="13624980" cy="944880"/>
        </p:xfrm>
        <a:graphic>
          <a:graphicData uri="http://schemas.openxmlformats.org/drawingml/2006/table">
            <a:tbl>
              <a:tblPr/>
              <a:tblGrid>
                <a:gridCol w="13624980">
                  <a:extLst>
                    <a:ext uri="{9D8B030D-6E8A-4147-A177-3AD203B41FA5}">
                      <a16:colId xmlns:a16="http://schemas.microsoft.com/office/drawing/2014/main" val="2360846039"/>
                    </a:ext>
                  </a:extLst>
                </a:gridCol>
              </a:tblGrid>
              <a:tr h="799146">
                <a:tc>
                  <a:txBody>
                    <a:bodyPr/>
                    <a:lstStyle/>
                    <a:p>
                      <a:r>
                        <a:rPr lang="en-US" sz="2800" dirty="0"/>
                        <a:t>Clearly explain what data is accessed, store as little as possible, and use encryption (at rest and in transit). Minimize email content storage.</a:t>
                      </a:r>
                    </a:p>
                  </a:txBody>
                  <a:tcPr anchor="ctr">
                    <a:lnL>
                      <a:noFill/>
                    </a:lnL>
                    <a:lnR>
                      <a:noFill/>
                    </a:lnR>
                    <a:lnT>
                      <a:noFill/>
                    </a:lnT>
                    <a:lnB>
                      <a:noFill/>
                    </a:lnB>
                    <a:noFill/>
                  </a:tcPr>
                </a:tc>
                <a:extLst>
                  <a:ext uri="{0D108BD9-81ED-4DB2-BD59-A6C34878D82A}">
                    <a16:rowId xmlns:a16="http://schemas.microsoft.com/office/drawing/2014/main" val="189022659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05</a:t>
            </a:r>
          </a:p>
        </p:txBody>
      </p:sp>
      <p:sp>
        <p:nvSpPr>
          <p:cNvPr id="7" name="TextBox 7"/>
          <p:cNvSpPr txBox="1"/>
          <p:nvPr/>
        </p:nvSpPr>
        <p:spPr>
          <a:xfrm>
            <a:off x="4624650" y="565676"/>
            <a:ext cx="8879582"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IMPACT AND BENEFITS</a:t>
            </a:r>
          </a:p>
        </p:txBody>
      </p:sp>
      <p:sp>
        <p:nvSpPr>
          <p:cNvPr id="8" name="TextBox 8"/>
          <p:cNvSpPr txBox="1"/>
          <p:nvPr/>
        </p:nvSpPr>
        <p:spPr>
          <a:xfrm>
            <a:off x="3663860" y="9794298"/>
            <a:ext cx="1017605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1010277"/>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2067837" y="4146345"/>
            <a:ext cx="13993208" cy="768224"/>
          </a:xfrm>
          <a:prstGeom prst="rect">
            <a:avLst/>
          </a:prstGeom>
        </p:spPr>
        <p:txBody>
          <a:bodyPr lIns="0" tIns="0" rIns="0" bIns="0" rtlCol="0" anchor="t">
            <a:spAutoFit/>
          </a:bodyPr>
          <a:lstStyle/>
          <a:p>
            <a:pPr algn="l">
              <a:lnSpc>
                <a:spcPts val="6713"/>
              </a:lnSpc>
            </a:pPr>
            <a:endParaRPr lang="en-US" sz="4118" dirty="0">
              <a:solidFill>
                <a:srgbClr val="000000"/>
              </a:solidFill>
              <a:latin typeface="Times New Roman"/>
              <a:ea typeface="Times New Roman"/>
              <a:cs typeface="Times New Roman"/>
              <a:sym typeface="Times New Roman"/>
            </a:endParaRPr>
          </a:p>
        </p:txBody>
      </p:sp>
      <p:sp>
        <p:nvSpPr>
          <p:cNvPr id="11" name="TextBox 10">
            <a:extLst>
              <a:ext uri="{FF2B5EF4-FFF2-40B4-BE49-F238E27FC236}">
                <a16:creationId xmlns:a16="http://schemas.microsoft.com/office/drawing/2014/main" id="{4E3D619A-8EAF-1244-ACBD-CAC5FC8065DD}"/>
              </a:ext>
            </a:extLst>
          </p:cNvPr>
          <p:cNvSpPr txBox="1"/>
          <p:nvPr/>
        </p:nvSpPr>
        <p:spPr>
          <a:xfrm>
            <a:off x="1371600" y="2400299"/>
            <a:ext cx="5486400" cy="6555641"/>
          </a:xfrm>
          <a:prstGeom prst="rect">
            <a:avLst/>
          </a:prstGeom>
          <a:noFill/>
        </p:spPr>
        <p:txBody>
          <a:bodyPr wrap="square" rtlCol="0">
            <a:spAutoFit/>
          </a:bodyPr>
          <a:lstStyle/>
          <a:p>
            <a:pPr>
              <a:buNone/>
            </a:pPr>
            <a:r>
              <a:rPr lang="en-US" sz="4000" b="1" dirty="0"/>
              <a:t>🌐 Impact</a:t>
            </a:r>
          </a:p>
          <a:p>
            <a:pPr>
              <a:buNone/>
            </a:pPr>
            <a:endParaRPr lang="en-US" sz="4000" b="1" dirty="0"/>
          </a:p>
          <a:p>
            <a:pPr>
              <a:buFont typeface="+mj-lt"/>
              <a:buAutoNum type="arabicPeriod"/>
            </a:pPr>
            <a:r>
              <a:rPr lang="en-US" sz="2800" b="1" dirty="0"/>
              <a:t>Organizational</a:t>
            </a:r>
            <a:r>
              <a:rPr lang="en-US" sz="2800" dirty="0"/>
              <a:t>: Reduces cybersecurity incidents significantly, fostering a stronger security culture.</a:t>
            </a:r>
          </a:p>
          <a:p>
            <a:pPr>
              <a:buFont typeface="+mj-lt"/>
              <a:buAutoNum type="arabicPeriod"/>
            </a:pPr>
            <a:r>
              <a:rPr lang="en-US" sz="2800" b="1" dirty="0"/>
              <a:t>Financial</a:t>
            </a:r>
            <a:r>
              <a:rPr lang="en-US" sz="2800" dirty="0"/>
              <a:t>: Lowers costs </a:t>
            </a:r>
            <a:r>
              <a:rPr lang="en-US" sz="3200" dirty="0"/>
              <a:t>of</a:t>
            </a:r>
            <a:r>
              <a:rPr lang="en-US" sz="2800" dirty="0"/>
              <a:t> breaches, which can reach millions of dollars.</a:t>
            </a:r>
          </a:p>
          <a:p>
            <a:pPr>
              <a:buFont typeface="+mj-lt"/>
              <a:buAutoNum type="arabicPeriod"/>
            </a:pPr>
            <a:r>
              <a:rPr lang="en-US" sz="2800" b="1" dirty="0"/>
              <a:t>User</a:t>
            </a:r>
            <a:r>
              <a:rPr lang="en-US" sz="2800" dirty="0"/>
              <a:t>: Builds user confidence by making them aware of phishing risks.</a:t>
            </a:r>
          </a:p>
          <a:p>
            <a:pPr>
              <a:buFont typeface="+mj-lt"/>
              <a:buAutoNum type="arabicPeriod"/>
            </a:pPr>
            <a:r>
              <a:rPr lang="en-US" sz="2800" b="1" dirty="0"/>
              <a:t>Strategic</a:t>
            </a:r>
            <a:r>
              <a:rPr lang="en-US" sz="2800" dirty="0"/>
              <a:t>: Positions the company as proactive in cybersecurity, improving customer trust.</a:t>
            </a:r>
          </a:p>
        </p:txBody>
      </p:sp>
      <p:cxnSp>
        <p:nvCxnSpPr>
          <p:cNvPr id="18" name="Straight Connector 17">
            <a:extLst>
              <a:ext uri="{FF2B5EF4-FFF2-40B4-BE49-F238E27FC236}">
                <a16:creationId xmlns:a16="http://schemas.microsoft.com/office/drawing/2014/main" id="{1362D63E-3331-3336-C917-35CACFBFA2F9}"/>
              </a:ext>
            </a:extLst>
          </p:cNvPr>
          <p:cNvCxnSpPr>
            <a:cxnSpLocks/>
          </p:cNvCxnSpPr>
          <p:nvPr/>
        </p:nvCxnSpPr>
        <p:spPr>
          <a:xfrm>
            <a:off x="8500592" y="2100521"/>
            <a:ext cx="0" cy="683198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32970D-E4F8-3AB2-A9A8-3EF0EBDFB365}"/>
              </a:ext>
            </a:extLst>
          </p:cNvPr>
          <p:cNvSpPr txBox="1"/>
          <p:nvPr/>
        </p:nvSpPr>
        <p:spPr>
          <a:xfrm>
            <a:off x="9787408" y="2628898"/>
            <a:ext cx="8043389" cy="6370975"/>
          </a:xfrm>
          <a:prstGeom prst="rect">
            <a:avLst/>
          </a:prstGeom>
          <a:noFill/>
        </p:spPr>
        <p:txBody>
          <a:bodyPr wrap="square" rtlCol="0">
            <a:spAutoFit/>
          </a:bodyPr>
          <a:lstStyle/>
          <a:p>
            <a:pPr>
              <a:buNone/>
            </a:pPr>
            <a:r>
              <a:rPr lang="en-US" sz="3600" b="1" dirty="0"/>
              <a:t>🎯 Benefits</a:t>
            </a:r>
          </a:p>
          <a:p>
            <a:pPr>
              <a:buNone/>
            </a:pPr>
            <a:endParaRPr lang="en-US" sz="3600" b="1" dirty="0"/>
          </a:p>
          <a:p>
            <a:pPr>
              <a:buFont typeface="+mj-lt"/>
              <a:buAutoNum type="arabicPeriod"/>
            </a:pPr>
            <a:r>
              <a:rPr lang="en-US" sz="2800" b="1" dirty="0"/>
              <a:t>Prevents Phishing</a:t>
            </a:r>
            <a:r>
              <a:rPr lang="en-US" sz="2800" dirty="0"/>
              <a:t>: Detects and blocks phishing emails automatically, reducing security risks.</a:t>
            </a:r>
          </a:p>
          <a:p>
            <a:pPr>
              <a:buFont typeface="+mj-lt"/>
              <a:buAutoNum type="arabicPeriod"/>
            </a:pPr>
            <a:r>
              <a:rPr lang="en-US" sz="2800" b="1" dirty="0"/>
              <a:t>User Education</a:t>
            </a:r>
            <a:r>
              <a:rPr lang="en-US" sz="2800" dirty="0"/>
              <a:t>: Provides instant training when risky actions are detected (like clicking a phishing link).</a:t>
            </a:r>
          </a:p>
          <a:p>
            <a:pPr>
              <a:buFont typeface="+mj-lt"/>
              <a:buAutoNum type="arabicPeriod"/>
            </a:pPr>
            <a:r>
              <a:rPr lang="en-US" sz="2800" b="1" dirty="0"/>
              <a:t>Saves Time</a:t>
            </a:r>
            <a:r>
              <a:rPr lang="en-US" sz="2800" dirty="0"/>
              <a:t>: Automates threat detection and reduces IT workload by flagging suspicious emails.</a:t>
            </a:r>
          </a:p>
          <a:p>
            <a:pPr>
              <a:buFont typeface="+mj-lt"/>
              <a:buAutoNum type="arabicPeriod"/>
            </a:pPr>
            <a:r>
              <a:rPr lang="en-US" sz="2800" b="1" dirty="0"/>
              <a:t>Data Insights</a:t>
            </a:r>
            <a:r>
              <a:rPr lang="en-US" sz="2800" dirty="0"/>
              <a:t>: Tracks users' phishing risk levels and identifies vulnerable areas.</a:t>
            </a:r>
          </a:p>
          <a:p>
            <a:pPr>
              <a:buFont typeface="+mj-lt"/>
              <a:buAutoNum type="arabicPeriod"/>
            </a:pPr>
            <a:r>
              <a:rPr lang="en-US" sz="2800" b="1" dirty="0"/>
              <a:t>Scalable</a:t>
            </a:r>
            <a:r>
              <a:rPr lang="en-US" sz="2800" dirty="0"/>
              <a:t>: Easily deployable across organizations of any size.</a:t>
            </a:r>
          </a:p>
          <a:p>
            <a:pPr>
              <a:buFont typeface="+mj-lt"/>
              <a:buAutoNum type="arabicPeriod"/>
            </a:pPr>
            <a:r>
              <a:rPr lang="en-US" sz="2800" b="1" dirty="0"/>
              <a:t>Compliance</a:t>
            </a:r>
            <a:r>
              <a:rPr lang="en-US" sz="2800" dirty="0"/>
              <a:t>: Helps meet data protection regulations by preventing phishing-related breaches.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06</a:t>
            </a:r>
          </a:p>
        </p:txBody>
      </p:sp>
      <p:sp>
        <p:nvSpPr>
          <p:cNvPr id="7" name="TextBox 7"/>
          <p:cNvSpPr txBox="1"/>
          <p:nvPr/>
        </p:nvSpPr>
        <p:spPr>
          <a:xfrm>
            <a:off x="3482112" y="455527"/>
            <a:ext cx="11323776"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RESEARCH AND REFERENCES</a:t>
            </a:r>
          </a:p>
        </p:txBody>
      </p:sp>
      <p:sp>
        <p:nvSpPr>
          <p:cNvPr id="8" name="TextBox 8"/>
          <p:cNvSpPr txBox="1"/>
          <p:nvPr/>
        </p:nvSpPr>
        <p:spPr>
          <a:xfrm>
            <a:off x="3795994" y="9794298"/>
            <a:ext cx="103786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1356525"/>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793674" y="2238948"/>
            <a:ext cx="14596320" cy="7228902"/>
          </a:xfrm>
          <a:prstGeom prst="rect">
            <a:avLst/>
          </a:prstGeom>
        </p:spPr>
        <p:txBody>
          <a:bodyPr wrap="square" lIns="0" tIns="0" rIns="0" bIns="0" rtlCol="0" anchor="t">
            <a:spAutoFit/>
          </a:bodyPr>
          <a:lstStyle/>
          <a:p>
            <a:pPr>
              <a:buNone/>
            </a:pPr>
            <a:r>
              <a:rPr lang="en-IN" sz="3200" dirty="0"/>
              <a:t>🔗</a:t>
            </a:r>
            <a:r>
              <a:rPr lang="en-US" sz="3200" b="1" dirty="0"/>
              <a:t>References &amp; Sources</a:t>
            </a:r>
          </a:p>
          <a:p>
            <a:pPr>
              <a:buNone/>
            </a:pPr>
            <a:endParaRPr lang="en-US" sz="3200" b="1" dirty="0"/>
          </a:p>
          <a:p>
            <a:pPr>
              <a:buFont typeface="+mj-lt"/>
              <a:buAutoNum type="arabicPeriod"/>
            </a:pPr>
            <a:r>
              <a:rPr lang="en-US" sz="3200" b="1" dirty="0"/>
              <a:t>Phishing Detection with Machine Learning</a:t>
            </a:r>
            <a:endParaRPr lang="en-US" sz="3200" dirty="0"/>
          </a:p>
          <a:p>
            <a:pPr marL="742950" lvl="1" indent="-285750">
              <a:buFont typeface="+mj-lt"/>
              <a:buAutoNum type="arabicPeriod"/>
            </a:pPr>
            <a:r>
              <a:rPr lang="en-US" sz="3200" dirty="0" err="1"/>
              <a:t>PhishGuard</a:t>
            </a:r>
            <a:r>
              <a:rPr lang="en-US" sz="3200" dirty="0"/>
              <a:t>: </a:t>
            </a:r>
            <a:r>
              <a:rPr lang="en-US" sz="3200" dirty="0" err="1">
                <a:hlinkClick r:id="rId7"/>
              </a:rPr>
              <a:t>arXiv</a:t>
            </a:r>
            <a:r>
              <a:rPr lang="en-US" sz="3200" dirty="0">
                <a:hlinkClick r:id="rId7"/>
              </a:rPr>
              <a:t> preprint</a:t>
            </a:r>
            <a:endParaRPr lang="en-US" sz="3200" dirty="0"/>
          </a:p>
          <a:p>
            <a:pPr marL="742950" lvl="1" indent="-285750">
              <a:buFont typeface="+mj-lt"/>
              <a:buAutoNum type="arabicPeriod"/>
            </a:pPr>
            <a:r>
              <a:rPr lang="en-US" sz="3200" dirty="0"/>
              <a:t>Feature-based phishing detection: </a:t>
            </a:r>
            <a:r>
              <a:rPr lang="en-US" sz="3200" dirty="0" err="1">
                <a:hlinkClick r:id="rId8"/>
              </a:rPr>
              <a:t>arXiv</a:t>
            </a:r>
            <a:r>
              <a:rPr lang="en-US" sz="3200" dirty="0">
                <a:hlinkClick r:id="rId8"/>
              </a:rPr>
              <a:t> Study</a:t>
            </a:r>
            <a:endParaRPr lang="en-US" sz="3200" dirty="0"/>
          </a:p>
          <a:p>
            <a:pPr>
              <a:buNone/>
            </a:pPr>
            <a:r>
              <a:rPr lang="en-US" sz="3200" b="1" dirty="0"/>
              <a:t>References &amp; Sources</a:t>
            </a:r>
          </a:p>
          <a:p>
            <a:pPr>
              <a:buFont typeface="+mj-lt"/>
              <a:buAutoNum type="arabicPeriod"/>
            </a:pPr>
            <a:r>
              <a:rPr lang="en-US" sz="3200" b="1" dirty="0"/>
              <a:t>Phishing Detection with Machine Learning</a:t>
            </a:r>
            <a:endParaRPr lang="en-US" sz="3200" dirty="0"/>
          </a:p>
          <a:p>
            <a:pPr marL="742950" lvl="1" indent="-285750">
              <a:buFont typeface="+mj-lt"/>
              <a:buAutoNum type="arabicPeriod"/>
            </a:pPr>
            <a:r>
              <a:rPr lang="en-US" sz="3200" dirty="0" err="1"/>
              <a:t>PhishGuard</a:t>
            </a:r>
            <a:r>
              <a:rPr lang="en-US" sz="3200" dirty="0"/>
              <a:t>: </a:t>
            </a:r>
            <a:r>
              <a:rPr lang="en-US" sz="3200" dirty="0" err="1">
                <a:hlinkClick r:id="rId7"/>
              </a:rPr>
              <a:t>arXiv</a:t>
            </a:r>
            <a:r>
              <a:rPr lang="en-US" sz="3200" dirty="0">
                <a:hlinkClick r:id="rId7"/>
              </a:rPr>
              <a:t> preprint</a:t>
            </a:r>
            <a:endParaRPr lang="en-US" sz="3200" dirty="0"/>
          </a:p>
          <a:p>
            <a:pPr marL="742950" lvl="1" indent="-285750">
              <a:buFont typeface="+mj-lt"/>
              <a:buAutoNum type="arabicPeriod"/>
            </a:pPr>
            <a:r>
              <a:rPr lang="en-US" sz="3200" dirty="0"/>
              <a:t>Feature-based phishing detection: </a:t>
            </a:r>
            <a:r>
              <a:rPr lang="en-US" sz="3200" dirty="0" err="1">
                <a:hlinkClick r:id="rId8"/>
              </a:rPr>
              <a:t>arXiv</a:t>
            </a:r>
            <a:r>
              <a:rPr lang="en-US" sz="3200" dirty="0">
                <a:hlinkClick r:id="rId8"/>
              </a:rPr>
              <a:t> Study</a:t>
            </a:r>
            <a:endParaRPr lang="en-US" sz="3200" dirty="0"/>
          </a:p>
          <a:p>
            <a:pPr>
              <a:buNone/>
            </a:pPr>
            <a:r>
              <a:rPr lang="en-US" sz="3200" b="1" dirty="0"/>
              <a:t>Effectiveness of Awareness Training</a:t>
            </a:r>
            <a:endParaRPr lang="en-US" sz="3200" dirty="0"/>
          </a:p>
          <a:p>
            <a:pPr>
              <a:buFont typeface="Arial" panose="020B0604020202020204" pitchFamily="34" charset="0"/>
              <a:buChar char="•"/>
            </a:pPr>
            <a:r>
              <a:rPr lang="en-US" sz="3200" dirty="0"/>
              <a:t>KnowBe4 Case Study: CIO Hub Summary</a:t>
            </a:r>
          </a:p>
          <a:p>
            <a:pPr>
              <a:buFont typeface="Arial" panose="020B0604020202020204" pitchFamily="34" charset="0"/>
              <a:buChar char="•"/>
            </a:pPr>
            <a:r>
              <a:rPr lang="en-US" sz="3200" dirty="0"/>
              <a:t>SANS Institute Findings (via CIO Hub): SANS Training Stats</a:t>
            </a:r>
          </a:p>
          <a:p>
            <a:pPr marL="742950" lvl="1" indent="-285750">
              <a:buFont typeface="+mj-lt"/>
              <a:buAutoNum type="arabicPeriod"/>
            </a:pPr>
            <a:endParaRPr lang="en-US" sz="3200" dirty="0"/>
          </a:p>
          <a:p>
            <a:pPr algn="l">
              <a:lnSpc>
                <a:spcPts val="7605"/>
              </a:lnSpc>
            </a:pPr>
            <a:endParaRPr lang="en-US" sz="32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07</a:t>
            </a:r>
          </a:p>
        </p:txBody>
      </p:sp>
      <p:sp>
        <p:nvSpPr>
          <p:cNvPr id="7" name="TextBox 7"/>
          <p:cNvSpPr txBox="1"/>
          <p:nvPr/>
        </p:nvSpPr>
        <p:spPr>
          <a:xfrm>
            <a:off x="4383474" y="841771"/>
            <a:ext cx="9937554"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FUTURE ENHANCEMENTS</a:t>
            </a:r>
          </a:p>
        </p:txBody>
      </p:sp>
      <p:sp>
        <p:nvSpPr>
          <p:cNvPr id="8" name="TextBox 8"/>
          <p:cNvSpPr txBox="1"/>
          <p:nvPr/>
        </p:nvSpPr>
        <p:spPr>
          <a:xfrm>
            <a:off x="3596330" y="9794298"/>
            <a:ext cx="1020696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664028"/>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p:txBody>
      </p:sp>
      <p:sp>
        <p:nvSpPr>
          <p:cNvPr id="11" name="TextBox 10">
            <a:extLst>
              <a:ext uri="{FF2B5EF4-FFF2-40B4-BE49-F238E27FC236}">
                <a16:creationId xmlns:a16="http://schemas.microsoft.com/office/drawing/2014/main" id="{57698CAC-6C0A-56F9-7F97-F80B4B13A514}"/>
              </a:ext>
            </a:extLst>
          </p:cNvPr>
          <p:cNvSpPr txBox="1"/>
          <p:nvPr/>
        </p:nvSpPr>
        <p:spPr>
          <a:xfrm>
            <a:off x="1295400" y="2929412"/>
            <a:ext cx="12725400" cy="3539430"/>
          </a:xfrm>
          <a:prstGeom prst="rect">
            <a:avLst/>
          </a:prstGeom>
          <a:noFill/>
        </p:spPr>
        <p:txBody>
          <a:bodyPr wrap="square" rtlCol="0">
            <a:spAutoFit/>
          </a:bodyPr>
          <a:lstStyle/>
          <a:p>
            <a:r>
              <a:rPr lang="en-IN" sz="3200" dirty="0"/>
              <a:t>🔮 </a:t>
            </a:r>
            <a:r>
              <a:rPr lang="en-IN" sz="3200" b="1" dirty="0"/>
              <a:t>Future Enhancements</a:t>
            </a:r>
          </a:p>
          <a:p>
            <a:endParaRPr lang="en-IN" sz="3200" b="1" dirty="0"/>
          </a:p>
          <a:p>
            <a:r>
              <a:rPr lang="en-IN" sz="3200" dirty="0"/>
              <a:t>Add deep learning models (e.g., BERT) for better detection, real-time email quarantine, and user </a:t>
            </a:r>
            <a:r>
              <a:rPr lang="en-IN" sz="3200" dirty="0" err="1"/>
              <a:t>behavior</a:t>
            </a:r>
            <a:r>
              <a:rPr lang="en-IN" sz="3200" dirty="0"/>
              <a:t> tracking. Support multi-language phishing, integrate with SIEM tools, and expand to mobile apps. Deploy phishing honeypots for data collection and offer personalized training based on user risk.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08</a:t>
            </a:r>
          </a:p>
        </p:txBody>
      </p:sp>
      <p:sp>
        <p:nvSpPr>
          <p:cNvPr id="7" name="TextBox 7"/>
          <p:cNvSpPr txBox="1"/>
          <p:nvPr/>
        </p:nvSpPr>
        <p:spPr>
          <a:xfrm>
            <a:off x="5644036" y="1018927"/>
            <a:ext cx="8857072"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DEMO (IF APPLICABLE)</a:t>
            </a:r>
          </a:p>
        </p:txBody>
      </p:sp>
      <p:sp>
        <p:nvSpPr>
          <p:cNvPr id="8" name="TextBox 8"/>
          <p:cNvSpPr txBox="1"/>
          <p:nvPr/>
        </p:nvSpPr>
        <p:spPr>
          <a:xfrm>
            <a:off x="3950476" y="9794298"/>
            <a:ext cx="1038704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1010277"/>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pic>
        <p:nvPicPr>
          <p:cNvPr id="12" name="Picture 11">
            <a:extLst>
              <a:ext uri="{FF2B5EF4-FFF2-40B4-BE49-F238E27FC236}">
                <a16:creationId xmlns:a16="http://schemas.microsoft.com/office/drawing/2014/main" id="{CDCAC444-FEA4-D7E8-FE6B-43AECF0936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00627" y="1931805"/>
            <a:ext cx="16724014" cy="72502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09</a:t>
            </a:r>
          </a:p>
        </p:txBody>
      </p:sp>
      <p:sp>
        <p:nvSpPr>
          <p:cNvPr id="7" name="TextBox 7"/>
          <p:cNvSpPr txBox="1"/>
          <p:nvPr/>
        </p:nvSpPr>
        <p:spPr>
          <a:xfrm>
            <a:off x="4119602" y="841771"/>
            <a:ext cx="10266947"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CONCLUSION &amp; THANK YOU</a:t>
            </a:r>
          </a:p>
        </p:txBody>
      </p:sp>
      <p:sp>
        <p:nvSpPr>
          <p:cNvPr id="8" name="TextBox 8"/>
          <p:cNvSpPr txBox="1"/>
          <p:nvPr/>
        </p:nvSpPr>
        <p:spPr>
          <a:xfrm>
            <a:off x="3895355"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1010277"/>
          </a:xfrm>
          <a:prstGeom prst="rect">
            <a:avLst/>
          </a:prstGeom>
        </p:spPr>
        <p:txBody>
          <a:bodyPr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Shadow</a:t>
            </a:r>
          </a:p>
          <a:p>
            <a:pPr algn="ctr">
              <a:lnSpc>
                <a:spcPts val="2707"/>
              </a:lnSpc>
            </a:pPr>
            <a:r>
              <a:rPr lang="en-US" sz="1933" b="1" dirty="0">
                <a:solidFill>
                  <a:srgbClr val="000000"/>
                </a:solidFill>
                <a:latin typeface="Times New Roman Bold"/>
                <a:ea typeface="Times New Roman Bold"/>
                <a:cs typeface="Times New Roman Bold"/>
                <a:sym typeface="Times New Roman Bold"/>
              </a:rPr>
              <a:t>Bytes</a:t>
            </a:r>
          </a:p>
          <a:p>
            <a:pPr algn="ctr">
              <a:lnSpc>
                <a:spcPts val="2707"/>
              </a:lnSpc>
            </a:pPr>
            <a:endParaRPr lang="en-US" sz="1933" b="1" dirty="0">
              <a:solidFill>
                <a:srgbClr val="000000"/>
              </a:solidFill>
              <a:latin typeface="Times New Roman Bold"/>
              <a:ea typeface="Times New Roman Bold"/>
              <a:cs typeface="Times New Roman Bold"/>
              <a:sym typeface="Times New Roman Bold"/>
            </a:endParaRPr>
          </a:p>
        </p:txBody>
      </p:sp>
      <p:sp>
        <p:nvSpPr>
          <p:cNvPr id="11" name="TextBox 10">
            <a:extLst>
              <a:ext uri="{FF2B5EF4-FFF2-40B4-BE49-F238E27FC236}">
                <a16:creationId xmlns:a16="http://schemas.microsoft.com/office/drawing/2014/main" id="{5B705B71-5AB4-AE72-7552-F23E1690C422}"/>
              </a:ext>
            </a:extLst>
          </p:cNvPr>
          <p:cNvSpPr txBox="1"/>
          <p:nvPr/>
        </p:nvSpPr>
        <p:spPr>
          <a:xfrm>
            <a:off x="1600200" y="3162002"/>
            <a:ext cx="12039600" cy="3539430"/>
          </a:xfrm>
          <a:prstGeom prst="rect">
            <a:avLst/>
          </a:prstGeom>
          <a:noFill/>
        </p:spPr>
        <p:txBody>
          <a:bodyPr wrap="square" rtlCol="0">
            <a:spAutoFit/>
          </a:bodyPr>
          <a:lstStyle/>
          <a:p>
            <a:pPr>
              <a:buNone/>
            </a:pPr>
            <a:r>
              <a:rPr lang="en-US" sz="3200" b="1"/>
              <a:t>✅ Conclusion</a:t>
            </a:r>
          </a:p>
          <a:p>
            <a:r>
              <a:rPr lang="en-US" sz="3200"/>
              <a:t>An automated phishing detection and awareness tool is both technically feasible and highly impactful. By combining intelligent email analysis with real-time training, it proactively reduces phishing risks, strengthens user behavior, and supports organizational security. With future enhancements, the system can evolve into a powerful, scalable defense platform against ever-evolving cyber threats.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TotalTime>
  <Words>890</Words>
  <Application>Microsoft Office PowerPoint</Application>
  <PresentationFormat>Custom</PresentationFormat>
  <Paragraphs>112</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 Semi-Bold</vt:lpstr>
      <vt:lpstr>Arial</vt:lpstr>
      <vt:lpstr>Times New Roman Bold</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Pink Gradient Modern Minimalist Computer Technology Presentation</dc:title>
  <dc:creator>Sravani Chinthoju</dc:creator>
  <cp:lastModifiedBy>Sricharan chary</cp:lastModifiedBy>
  <cp:revision>5</cp:revision>
  <dcterms:created xsi:type="dcterms:W3CDTF">2006-08-16T00:00:00Z</dcterms:created>
  <dcterms:modified xsi:type="dcterms:W3CDTF">2025-04-30T10:31:25Z</dcterms:modified>
  <dc:identifier>DAGmCImH0yY</dc:identifier>
</cp:coreProperties>
</file>